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Raleway Bold" charset="1" panose="020B0803030101060003"/>
      <p:regular r:id="rId13"/>
    </p:embeddedFont>
    <p:embeddedFont>
      <p:font typeface="Raleway" charset="1" panose="020B05030301010600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143500"/>
            <a:chOff x="0" y="0"/>
            <a:chExt cx="4816593" cy="1354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54667"/>
            </a:xfrm>
            <a:custGeom>
              <a:avLst/>
              <a:gdLst/>
              <a:ahLst/>
              <a:cxnLst/>
              <a:rect r="r" b="b" t="t" l="l"/>
              <a:pathLst>
                <a:path h="13546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BBD8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044" y="6272264"/>
            <a:ext cx="16825913" cy="2800350"/>
            <a:chOff x="0" y="0"/>
            <a:chExt cx="4431516" cy="7375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31516" cy="737541"/>
            </a:xfrm>
            <a:custGeom>
              <a:avLst/>
              <a:gdLst/>
              <a:ahLst/>
              <a:cxnLst/>
              <a:rect r="r" b="b" t="t" l="l"/>
              <a:pathLst>
                <a:path h="737541" w="4431516">
                  <a:moveTo>
                    <a:pt x="0" y="0"/>
                  </a:moveTo>
                  <a:lnTo>
                    <a:pt x="4431516" y="0"/>
                  </a:lnTo>
                  <a:lnTo>
                    <a:pt x="4431516" y="737541"/>
                  </a:lnTo>
                  <a:lnTo>
                    <a:pt x="0" y="7375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4431516" cy="861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20"/>
                </a:lnSpc>
              </a:pPr>
              <a:r>
                <a:rPr lang="en-US" b="true" sz="58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PS02 – AI-POWERED EARLY RISK PREDICTION FOR PATIENT HEALTH CONDITIONS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116893" y="1615848"/>
            <a:ext cx="8054214" cy="180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7"/>
              </a:lnSpc>
            </a:pPr>
            <a:r>
              <a:rPr lang="en-US" sz="524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Team - KTPR-sqad</a:t>
            </a:r>
          </a:p>
          <a:p>
            <a:pPr algn="ctr">
              <a:lnSpc>
                <a:spcPts val="7337"/>
              </a:lnSpc>
              <a:spcBef>
                <a:spcPct val="0"/>
              </a:spcBef>
            </a:pPr>
            <a:r>
              <a:rPr lang="en-US" b="true" sz="524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Team ID - EV26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5835" cy="10287000"/>
            <a:chOff x="0" y="0"/>
            <a:chExt cx="16607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07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0796">
                  <a:moveTo>
                    <a:pt x="0" y="0"/>
                  </a:moveTo>
                  <a:lnTo>
                    <a:pt x="1660796" y="0"/>
                  </a:lnTo>
                  <a:lnTo>
                    <a:pt x="16607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BD8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6079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0571" y="4243388"/>
            <a:ext cx="4984694" cy="1445601"/>
            <a:chOff x="0" y="0"/>
            <a:chExt cx="1312841" cy="3807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2841" cy="380734"/>
            </a:xfrm>
            <a:custGeom>
              <a:avLst/>
              <a:gdLst/>
              <a:ahLst/>
              <a:cxnLst/>
              <a:rect r="r" b="b" t="t" l="l"/>
              <a:pathLst>
                <a:path h="380734" w="1312841">
                  <a:moveTo>
                    <a:pt x="0" y="0"/>
                  </a:moveTo>
                  <a:lnTo>
                    <a:pt x="1312841" y="0"/>
                  </a:lnTo>
                  <a:lnTo>
                    <a:pt x="1312841" y="380734"/>
                  </a:lnTo>
                  <a:lnTo>
                    <a:pt x="0" y="3807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312841" cy="39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720"/>
                </a:lnSpc>
                <a:spcBef>
                  <a:spcPct val="0"/>
                </a:spcBef>
              </a:pPr>
              <a:r>
                <a:rPr lang="en-US" b="true" sz="5600" u="non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PS Overview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405688" y="2539365"/>
            <a:ext cx="10020300" cy="578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6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Healthcare systems generate large volumes of patient health data</a:t>
            </a:r>
          </a:p>
          <a:p>
            <a:pPr algn="l" marL="647697" indent="-323848" lvl="1">
              <a:lnSpc>
                <a:spcPts val="46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Many serious diseases develop silently, showing symptoms only at later stages</a:t>
            </a:r>
          </a:p>
          <a:p>
            <a:pPr algn="l" marL="647697" indent="-323848" lvl="1">
              <a:lnSpc>
                <a:spcPts val="46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Traditional rule-based</a:t>
            </a: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and manual screening systems fail to detect early risk patterns</a:t>
            </a:r>
          </a:p>
          <a:p>
            <a:pPr algn="l" marL="647697" indent="-323848" lvl="1">
              <a:lnSpc>
                <a:spcPts val="46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elayed detection leads to poor health outcomes and increased treatment costs</a:t>
            </a:r>
          </a:p>
          <a:p>
            <a:pPr algn="l" marL="647697" indent="-323848" lvl="1">
              <a:lnSpc>
                <a:spcPts val="46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There is a need for an AI-based system that can identify health risks early using patient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82165" y="0"/>
            <a:ext cx="6305835" cy="10287000"/>
            <a:chOff x="0" y="0"/>
            <a:chExt cx="16607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07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0796">
                  <a:moveTo>
                    <a:pt x="0" y="0"/>
                  </a:moveTo>
                  <a:lnTo>
                    <a:pt x="1660796" y="0"/>
                  </a:lnTo>
                  <a:lnTo>
                    <a:pt x="16607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BD8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6079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50332" y="962025"/>
            <a:ext cx="10786587" cy="836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b="true" sz="320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Purpose of Visualization</a:t>
            </a:r>
          </a:p>
          <a:p>
            <a:pPr algn="l" marL="626865" indent="-313433" lvl="1">
              <a:lnSpc>
                <a:spcPts val="4064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To understand data patterns and feature behavior</a:t>
            </a:r>
          </a:p>
          <a:p>
            <a:pPr algn="l" marL="626865" indent="-313433" lvl="1">
              <a:lnSpc>
                <a:spcPts val="4064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To identify relationships between medical parameters and disease risk</a:t>
            </a:r>
          </a:p>
          <a:p>
            <a:pPr algn="l" marL="626865" indent="-313433" lvl="1">
              <a:lnSpc>
                <a:spcPts val="4064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To validate model learning and improve interpretability</a:t>
            </a:r>
          </a:p>
          <a:p>
            <a:pPr algn="l">
              <a:lnSpc>
                <a:spcPts val="4484"/>
              </a:lnSpc>
            </a:pPr>
            <a:r>
              <a:rPr lang="en-US" b="true" sz="320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Visualizations Used</a:t>
            </a:r>
          </a:p>
          <a:p>
            <a:pPr algn="l" marL="626865" indent="-313433" lvl="1">
              <a:lnSpc>
                <a:spcPts val="4064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Bar charts to analyze disease distribution and outcomes</a:t>
            </a:r>
          </a:p>
          <a:p>
            <a:pPr algn="l" marL="626865" indent="-313433" lvl="1">
              <a:lnSpc>
                <a:spcPts val="4064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Correlation heatmaps to study relationships between medical features</a:t>
            </a:r>
          </a:p>
          <a:p>
            <a:pPr algn="l" marL="626865" indent="-313433" lvl="1">
              <a:lnSpc>
                <a:spcPts val="4064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Feature importance plots to identify key risk factors</a:t>
            </a:r>
          </a:p>
          <a:p>
            <a:pPr algn="l" marL="626865" indent="-313433" lvl="1">
              <a:lnSpc>
                <a:spcPts val="4064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Input vs prediction trend graphs for risk interpretation</a:t>
            </a:r>
          </a:p>
          <a:p>
            <a:pPr algn="l">
              <a:lnSpc>
                <a:spcPts val="4484"/>
              </a:lnSpc>
            </a:pPr>
            <a:r>
              <a:rPr lang="en-US" b="true" sz="320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Insights Gained</a:t>
            </a:r>
          </a:p>
          <a:p>
            <a:pPr algn="l" marL="626865" indent="-313433" lvl="1">
              <a:lnSpc>
                <a:spcPts val="4064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Certain medical parameters strongly influence disease risk</a:t>
            </a:r>
          </a:p>
          <a:p>
            <a:pPr algn="l" marL="626865" indent="-313433" lvl="1">
              <a:lnSpc>
                <a:spcPts val="4064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Feature patterns vary significantly across diseases</a:t>
            </a:r>
          </a:p>
          <a:p>
            <a:pPr algn="l" marL="626865" indent="-313433" lvl="1">
              <a:lnSpc>
                <a:spcPts val="4064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Visualization improves trust and transparency in ML predictions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806947" y="628002"/>
            <a:ext cx="5222819" cy="9197683"/>
            <a:chOff x="0" y="0"/>
            <a:chExt cx="1375557" cy="24224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5557" cy="2422435"/>
            </a:xfrm>
            <a:custGeom>
              <a:avLst/>
              <a:gdLst/>
              <a:ahLst/>
              <a:cxnLst/>
              <a:rect r="r" b="b" t="t" l="l"/>
              <a:pathLst>
                <a:path h="2422435" w="1375557">
                  <a:moveTo>
                    <a:pt x="0" y="0"/>
                  </a:moveTo>
                  <a:lnTo>
                    <a:pt x="1375557" y="0"/>
                  </a:lnTo>
                  <a:lnTo>
                    <a:pt x="1375557" y="2422435"/>
                  </a:lnTo>
                  <a:lnTo>
                    <a:pt x="0" y="24224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75557" cy="2422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760"/>
                </a:lnSpc>
                <a:spcBef>
                  <a:spcPct val="0"/>
                </a:spcBef>
              </a:pPr>
              <a:r>
                <a:rPr lang="en-US" b="true" sz="48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Visualization f</a:t>
              </a:r>
              <a:r>
                <a:rPr lang="en-US" b="true" sz="4800" u="non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or Insights on Model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D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40101" y="1150074"/>
            <a:ext cx="8542087" cy="3993426"/>
          </a:xfrm>
          <a:custGeom>
            <a:avLst/>
            <a:gdLst/>
            <a:ahLst/>
            <a:cxnLst/>
            <a:rect r="r" b="b" t="t" l="l"/>
            <a:pathLst>
              <a:path h="3993426" w="8542087">
                <a:moveTo>
                  <a:pt x="0" y="0"/>
                </a:moveTo>
                <a:lnTo>
                  <a:pt x="8542087" y="0"/>
                </a:lnTo>
                <a:lnTo>
                  <a:pt x="8542087" y="3993426"/>
                </a:lnTo>
                <a:lnTo>
                  <a:pt x="0" y="3993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6413" y="1481287"/>
            <a:ext cx="6452554" cy="3540839"/>
          </a:xfrm>
          <a:custGeom>
            <a:avLst/>
            <a:gdLst/>
            <a:ahLst/>
            <a:cxnLst/>
            <a:rect r="r" b="b" t="t" l="l"/>
            <a:pathLst>
              <a:path h="3540839" w="6452554">
                <a:moveTo>
                  <a:pt x="0" y="0"/>
                </a:moveTo>
                <a:lnTo>
                  <a:pt x="6452554" y="0"/>
                </a:lnTo>
                <a:lnTo>
                  <a:pt x="6452554" y="3540839"/>
                </a:lnTo>
                <a:lnTo>
                  <a:pt x="0" y="3540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40213" y="5600700"/>
            <a:ext cx="4651475" cy="4180513"/>
          </a:xfrm>
          <a:custGeom>
            <a:avLst/>
            <a:gdLst/>
            <a:ahLst/>
            <a:cxnLst/>
            <a:rect r="r" b="b" t="t" l="l"/>
            <a:pathLst>
              <a:path h="4180513" w="4651475">
                <a:moveTo>
                  <a:pt x="0" y="0"/>
                </a:moveTo>
                <a:lnTo>
                  <a:pt x="4651475" y="0"/>
                </a:lnTo>
                <a:lnTo>
                  <a:pt x="4651475" y="4180513"/>
                </a:lnTo>
                <a:lnTo>
                  <a:pt x="0" y="4180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19329" y="5600700"/>
            <a:ext cx="5649342" cy="4180513"/>
          </a:xfrm>
          <a:custGeom>
            <a:avLst/>
            <a:gdLst/>
            <a:ahLst/>
            <a:cxnLst/>
            <a:rect r="r" b="b" t="t" l="l"/>
            <a:pathLst>
              <a:path h="4180513" w="5649342">
                <a:moveTo>
                  <a:pt x="0" y="0"/>
                </a:moveTo>
                <a:lnTo>
                  <a:pt x="5649342" y="0"/>
                </a:lnTo>
                <a:lnTo>
                  <a:pt x="5649342" y="4180513"/>
                </a:lnTo>
                <a:lnTo>
                  <a:pt x="0" y="41805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2873" y="5860097"/>
            <a:ext cx="5564045" cy="3248011"/>
          </a:xfrm>
          <a:custGeom>
            <a:avLst/>
            <a:gdLst/>
            <a:ahLst/>
            <a:cxnLst/>
            <a:rect r="r" b="b" t="t" l="l"/>
            <a:pathLst>
              <a:path h="3248011" w="5564045">
                <a:moveTo>
                  <a:pt x="0" y="0"/>
                </a:moveTo>
                <a:lnTo>
                  <a:pt x="5564045" y="0"/>
                </a:lnTo>
                <a:lnTo>
                  <a:pt x="5564045" y="3248012"/>
                </a:lnTo>
                <a:lnTo>
                  <a:pt x="0" y="32480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56413" y="304800"/>
            <a:ext cx="719318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Visualisation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05835" cy="10287000"/>
            <a:chOff x="0" y="0"/>
            <a:chExt cx="16607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07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0796">
                  <a:moveTo>
                    <a:pt x="0" y="0"/>
                  </a:moveTo>
                  <a:lnTo>
                    <a:pt x="1660796" y="0"/>
                  </a:lnTo>
                  <a:lnTo>
                    <a:pt x="16607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BD8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6079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0571" y="1028700"/>
            <a:ext cx="4984694" cy="8229600"/>
            <a:chOff x="0" y="0"/>
            <a:chExt cx="1312841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2841" cy="2167467"/>
            </a:xfrm>
            <a:custGeom>
              <a:avLst/>
              <a:gdLst/>
              <a:ahLst/>
              <a:cxnLst/>
              <a:rect r="r" b="b" t="t" l="l"/>
              <a:pathLst>
                <a:path h="2167467" w="1312841">
                  <a:moveTo>
                    <a:pt x="0" y="0"/>
                  </a:moveTo>
                  <a:lnTo>
                    <a:pt x="1312841" y="0"/>
                  </a:lnTo>
                  <a:lnTo>
                    <a:pt x="1312841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312841" cy="216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760"/>
                </a:lnSpc>
                <a:spcBef>
                  <a:spcPct val="0"/>
                </a:spcBef>
              </a:pPr>
              <a:r>
                <a:rPr lang="en-US" b="true" sz="48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Pro</a:t>
              </a:r>
              <a:r>
                <a:rPr lang="en-US" b="true" sz="4800" u="non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posed ML Solution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453188" y="328930"/>
            <a:ext cx="11834812" cy="952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4"/>
              </a:lnSpc>
            </a:pPr>
            <a:r>
              <a:rPr lang="en-US" sz="289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Solution Overview</a:t>
            </a:r>
          </a:p>
          <a:p>
            <a:pPr algn="l" marL="582928" indent="-291464" lvl="1">
              <a:lnSpc>
                <a:spcPts val="418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Developed an AI-powered early risk prediction system using machine learning</a:t>
            </a:r>
          </a:p>
          <a:p>
            <a:pPr algn="l" marL="582928" indent="-291464" lvl="1">
              <a:lnSpc>
                <a:spcPts val="418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Built disease-specific ML models for high-impact diseases such as: Diabetes, Heart Disease, Parkinson’s, Anemia, Dermatological conditions</a:t>
            </a:r>
          </a:p>
          <a:p>
            <a:pPr algn="l" marL="582928" indent="-291464" lvl="1">
              <a:lnSpc>
                <a:spcPts val="418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system acts as an early risk screening tool, not a diagnostic replacement</a:t>
            </a:r>
          </a:p>
          <a:p>
            <a:pPr algn="l">
              <a:lnSpc>
                <a:spcPts val="4494"/>
              </a:lnSpc>
            </a:pPr>
            <a:r>
              <a:rPr lang="en-US" sz="289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Solution Approach</a:t>
            </a:r>
          </a:p>
          <a:p>
            <a:pPr algn="l" marL="582928" indent="-291464" lvl="1">
              <a:lnSpc>
                <a:spcPts val="418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Collected and cleaned disease-specific healthcare datasets</a:t>
            </a:r>
          </a:p>
          <a:p>
            <a:pPr algn="l" marL="582928" indent="-291464" lvl="1">
              <a:lnSpc>
                <a:spcPts val="418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Selected medically relevant fea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tures for each disease</a:t>
            </a:r>
          </a:p>
          <a:p>
            <a:pPr algn="l" marL="582928" indent="-291464" lvl="1">
              <a:lnSpc>
                <a:spcPts val="418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Trained separate supervised ML models for each condition</a:t>
            </a:r>
          </a:p>
          <a:p>
            <a:pPr algn="l" marL="582928" indent="-291464" lvl="1">
              <a:lnSpc>
                <a:spcPts val="418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Integrated all models into a single unified web application</a:t>
            </a:r>
          </a:p>
          <a:p>
            <a:pPr algn="l" marL="582928" indent="-291464" lvl="1">
              <a:lnSpc>
                <a:spcPts val="418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Users input healt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eters and receive early risk predictions</a:t>
            </a:r>
          </a:p>
          <a:p>
            <a:pPr algn="l">
              <a:lnSpc>
                <a:spcPts val="4494"/>
              </a:lnSpc>
            </a:pPr>
            <a:r>
              <a:rPr lang="en-US" sz="289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Why This Works</a:t>
            </a:r>
          </a:p>
          <a:p>
            <a:pPr algn="l" marL="582928" indent="-291464" lvl="1">
              <a:lnSpc>
                <a:spcPts val="418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isease-specific models improve accuracy</a:t>
            </a:r>
          </a:p>
          <a:p>
            <a:pPr algn="l" marL="582928" indent="-291464" lvl="1">
              <a:lnSpc>
                <a:spcPts val="418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arly risk detection supports preventive care</a:t>
            </a:r>
          </a:p>
          <a:p>
            <a:pPr algn="l" marL="582928" indent="-291464" lvl="1">
              <a:lnSpc>
                <a:spcPts val="4184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Modular design allows easy addition of new diseases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3028677"/>
            <a:ext cx="7548562" cy="487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4"/>
              </a:lnSpc>
            </a:pPr>
            <a:r>
              <a:rPr lang="en-US" sz="31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Public healthcare datasets from:</a:t>
            </a:r>
          </a:p>
          <a:p>
            <a:pPr algn="l" marL="670044" indent="-335022" lvl="1">
              <a:lnSpc>
                <a:spcPts val="4344"/>
              </a:lnSpc>
              <a:buFont typeface="Arial"/>
              <a:buChar char="•"/>
            </a:pPr>
            <a:r>
              <a:rPr lang="en-US" sz="31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Government health portals</a:t>
            </a:r>
          </a:p>
          <a:p>
            <a:pPr algn="l" marL="670044" indent="-335022" lvl="1">
              <a:lnSpc>
                <a:spcPts val="4344"/>
              </a:lnSpc>
              <a:buFont typeface="Arial"/>
              <a:buChar char="•"/>
            </a:pPr>
            <a:r>
              <a:rPr lang="en-US" sz="31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WHO-linked and research datasets</a:t>
            </a:r>
          </a:p>
          <a:p>
            <a:pPr algn="l" marL="670044" indent="-335022" lvl="1">
              <a:lnSpc>
                <a:spcPts val="4344"/>
              </a:lnSpc>
              <a:buFont typeface="Arial"/>
              <a:buChar char="•"/>
            </a:pPr>
            <a:r>
              <a:rPr lang="en-US" sz="31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UCI-based and validated GitHub repositories</a:t>
            </a:r>
          </a:p>
          <a:p>
            <a:pPr algn="l" marL="670044" indent="-335022" lvl="1">
              <a:lnSpc>
                <a:spcPts val="4344"/>
              </a:lnSpc>
              <a:buFont typeface="Arial"/>
              <a:buChar char="•"/>
            </a:pPr>
            <a:r>
              <a:rPr lang="en-US" sz="31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Real medical parameters used for training</a:t>
            </a:r>
          </a:p>
          <a:p>
            <a:pPr algn="l" marL="670044" indent="-335022" lvl="1">
              <a:lnSpc>
                <a:spcPts val="4344"/>
              </a:lnSpc>
              <a:buFont typeface="Arial"/>
              <a:buChar char="•"/>
            </a:pPr>
            <a:r>
              <a:rPr lang="en-US" sz="310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Disease-specific datasets used due to lack of unified Indian patient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31234" y="1659255"/>
            <a:ext cx="4560094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SOURCE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05070" y="1659255"/>
            <a:ext cx="4167977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IDE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75349" y="3038202"/>
            <a:ext cx="6334914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Google Colab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Power BI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972011" y="6485528"/>
            <a:ext cx="6287289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Python and its Libraries - for preprossessing 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ML - Scikit learn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05070" y="5403850"/>
            <a:ext cx="4167977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TOOLS USED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07605" y="850571"/>
            <a:ext cx="16872791" cy="8229600"/>
            <a:chOff x="0" y="0"/>
            <a:chExt cx="4443863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386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443862">
                  <a:moveTo>
                    <a:pt x="0" y="0"/>
                  </a:moveTo>
                  <a:lnTo>
                    <a:pt x="4443862" y="0"/>
                  </a:lnTo>
                  <a:lnTo>
                    <a:pt x="444386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4443863" cy="216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7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BBD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4039" y="3178964"/>
            <a:ext cx="7459961" cy="1365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41"/>
              </a:lnSpc>
            </a:pPr>
            <a:r>
              <a:rPr lang="en-US" sz="924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Thank You!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2039328" y="5119639"/>
            <a:ext cx="7459961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039328" y="5442364"/>
            <a:ext cx="4352827" cy="522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97"/>
              </a:lnSpc>
              <a:spcBef>
                <a:spcPct val="0"/>
              </a:spcBef>
            </a:pPr>
            <a:r>
              <a:rPr lang="en-US" b="true" sz="306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For your listening...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DAG752IOCIQ</dc:identifier>
  <dcterms:modified xsi:type="dcterms:W3CDTF">2011-08-01T06:04:30Z</dcterms:modified>
  <cp:revision>1</cp:revision>
  <dc:title>Turquois White Minimalist Modern Presentation</dc:title>
</cp:coreProperties>
</file>